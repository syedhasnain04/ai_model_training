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HK Grotesk" panose="020B0604020202020204" charset="0"/>
      <p:regular r:id="rId10"/>
    </p:embeddedFont>
    <p:embeddedFont>
      <p:font typeface="HK Grotesk Bold" panose="020B0604020202020204" charset="0"/>
      <p:regular r:id="rId11"/>
    </p:embeddedFont>
    <p:embeddedFont>
      <p:font typeface="HK Grotesk Semi-Bold" panose="020B0604020202020204" charset="0"/>
      <p:regular r:id="rId12"/>
    </p:embeddedFont>
    <p:embeddedFont>
      <p:font typeface="Noto Serif Display ExtraCondensed Light" panose="020B0604020202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72"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1040" b="-1040"/>
              </a:stretch>
            </a:blipFill>
          </p:spPr>
          <p:txBody>
            <a:bodyPr/>
            <a:lstStyle/>
            <a:p>
              <a:endParaRPr lang="en-IN"/>
            </a:p>
          </p:txBody>
        </p:sp>
      </p:grpSp>
      <p:sp>
        <p:nvSpPr>
          <p:cNvPr id="4" name="TextBox 4"/>
          <p:cNvSpPr txBox="1"/>
          <p:nvPr/>
        </p:nvSpPr>
        <p:spPr>
          <a:xfrm>
            <a:off x="666750" y="1638300"/>
            <a:ext cx="6886575" cy="508635"/>
          </a:xfrm>
          <a:prstGeom prst="rect">
            <a:avLst/>
          </a:prstGeom>
        </p:spPr>
        <p:txBody>
          <a:bodyPr lIns="0" tIns="0" rIns="0" bIns="0" rtlCol="0" anchor="t">
            <a:spAutoFit/>
          </a:bodyPr>
          <a:lstStyle/>
          <a:p>
            <a:pPr marL="0" lvl="0" indent="0" algn="l">
              <a:lnSpc>
                <a:spcPts val="3899"/>
              </a:lnSpc>
            </a:pPr>
            <a:r>
              <a:rPr lang="en-US" sz="3899" b="1" u="none">
                <a:solidFill>
                  <a:srgbClr val="F5F5F7"/>
                </a:solidFill>
                <a:latin typeface="HK Grotesk Semi-Bold"/>
                <a:ea typeface="HK Grotesk Semi-Bold"/>
                <a:cs typeface="HK Grotesk Semi-Bold"/>
                <a:sym typeface="HK Grotesk Semi-Bold"/>
              </a:rPr>
              <a:t>HeuristicHive</a:t>
            </a:r>
          </a:p>
        </p:txBody>
      </p:sp>
      <p:grpSp>
        <p:nvGrpSpPr>
          <p:cNvPr id="5" name="Group 5"/>
          <p:cNvGrpSpPr/>
          <p:nvPr/>
        </p:nvGrpSpPr>
        <p:grpSpPr>
          <a:xfrm>
            <a:off x="666750" y="4050030"/>
            <a:ext cx="6886575" cy="5513070"/>
            <a:chOff x="0" y="0"/>
            <a:chExt cx="9182100" cy="7350760"/>
          </a:xfrm>
        </p:grpSpPr>
        <p:sp>
          <p:nvSpPr>
            <p:cNvPr id="6" name="TextBox 6"/>
            <p:cNvSpPr txBox="1"/>
            <p:nvPr/>
          </p:nvSpPr>
          <p:spPr>
            <a:xfrm>
              <a:off x="0" y="6233160"/>
              <a:ext cx="9182100" cy="1117600"/>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F5F5F7"/>
                  </a:solidFill>
                  <a:latin typeface="HK Grotesk"/>
                  <a:ea typeface="HK Grotesk"/>
                  <a:cs typeface="HK Grotesk"/>
                  <a:sym typeface="HK Grotesk"/>
                </a:rPr>
                <a:t>Hackathon Presentation by Team HeuristicHive</a:t>
              </a:r>
            </a:p>
          </p:txBody>
        </p:sp>
        <p:sp>
          <p:nvSpPr>
            <p:cNvPr id="7" name="TextBox 7"/>
            <p:cNvSpPr txBox="1"/>
            <p:nvPr/>
          </p:nvSpPr>
          <p:spPr>
            <a:xfrm>
              <a:off x="0" y="266700"/>
              <a:ext cx="9182100" cy="5097780"/>
            </a:xfrm>
            <a:prstGeom prst="rect">
              <a:avLst/>
            </a:prstGeom>
          </p:spPr>
          <p:txBody>
            <a:bodyPr lIns="0" tIns="0" rIns="0" bIns="0" rtlCol="0" anchor="t">
              <a:spAutoFit/>
            </a:bodyPr>
            <a:lstStyle/>
            <a:p>
              <a:pPr marL="0" lvl="0" indent="0" algn="l">
                <a:lnSpc>
                  <a:spcPts val="14400"/>
                </a:lnSpc>
              </a:pPr>
              <a:r>
                <a:rPr lang="en-US" sz="14400" spc="-288">
                  <a:solidFill>
                    <a:srgbClr val="F5F5F7"/>
                  </a:solidFill>
                  <a:latin typeface="Noto Serif Display ExtraCondensed Light"/>
                  <a:ea typeface="Noto Serif Display ExtraCondensed Light"/>
                  <a:cs typeface="Noto Serif Display ExtraCondensed Light"/>
                  <a:sym typeface="Noto Serif Display ExtraCondensed Light"/>
                </a:rPr>
                <a:t>AI Model Training</a:t>
              </a:r>
            </a:p>
          </p:txBody>
        </p:sp>
      </p:grpSp>
      <p:sp>
        <p:nvSpPr>
          <p:cNvPr id="8" name="AutoShape 8"/>
          <p:cNvSpPr/>
          <p:nvPr/>
        </p:nvSpPr>
        <p:spPr>
          <a:xfrm>
            <a:off x="0" y="676275"/>
            <a:ext cx="9296400" cy="0"/>
          </a:xfrm>
          <a:prstGeom prst="line">
            <a:avLst/>
          </a:prstGeom>
          <a:ln w="19050" cap="flat">
            <a:solidFill>
              <a:srgbClr val="F5F5F7"/>
            </a:solidFill>
            <a:prstDash val="solid"/>
            <a:headEnd type="none" w="sm" len="sm"/>
            <a:tailEnd type="none" w="sm" len="sm"/>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a:solidFill>
                  <a:srgbClr val="F5F5F7"/>
                </a:solidFill>
                <a:latin typeface="Noto Serif Display ExtraCondensed Light"/>
                <a:ea typeface="Noto Serif Display ExtraCondensed Light"/>
                <a:cs typeface="Noto Serif Display ExtraCondensed Light"/>
                <a:sym typeface="Noto Serif Display ExtraCondensed Light"/>
              </a:rPr>
              <a:t>Team Members</a:t>
            </a:r>
          </a:p>
        </p:txBody>
      </p:sp>
      <p:grpSp>
        <p:nvGrpSpPr>
          <p:cNvPr id="3" name="Group 3"/>
          <p:cNvGrpSpPr/>
          <p:nvPr/>
        </p:nvGrpSpPr>
        <p:grpSpPr>
          <a:xfrm>
            <a:off x="7858125" y="2457450"/>
            <a:ext cx="4010025" cy="1257300"/>
            <a:chOff x="0" y="0"/>
            <a:chExt cx="5346700" cy="1676400"/>
          </a:xfrm>
        </p:grpSpPr>
        <p:sp>
          <p:nvSpPr>
            <p:cNvPr id="4" name="TextBox 4"/>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Semi-Bold"/>
                  <a:ea typeface="HK Grotesk Semi-Bold"/>
                  <a:cs typeface="HK Grotesk Semi-Bold"/>
                  <a:sym typeface="HK Grotesk Semi-Bold"/>
                </a:rPr>
                <a:t>Syed Hasnain Peeran</a:t>
              </a:r>
            </a:p>
          </p:txBody>
        </p:sp>
        <p:sp>
          <p:nvSpPr>
            <p:cNvPr id="5" name="TextBox 5"/>
            <p:cNvSpPr txBox="1"/>
            <p:nvPr/>
          </p:nvSpPr>
          <p:spPr>
            <a:xfrm>
              <a:off x="0" y="1193800"/>
              <a:ext cx="5312521" cy="4826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Contributor to model training</a:t>
              </a:r>
            </a:p>
          </p:txBody>
        </p:sp>
      </p:grpSp>
      <p:grpSp>
        <p:nvGrpSpPr>
          <p:cNvPr id="6" name="Group 6"/>
          <p:cNvGrpSpPr/>
          <p:nvPr/>
        </p:nvGrpSpPr>
        <p:grpSpPr>
          <a:xfrm>
            <a:off x="13611225" y="2457450"/>
            <a:ext cx="4010025" cy="1257300"/>
            <a:chOff x="0" y="0"/>
            <a:chExt cx="5346700" cy="1676400"/>
          </a:xfrm>
        </p:grpSpPr>
        <p:sp>
          <p:nvSpPr>
            <p:cNvPr id="7" name="TextBox 7"/>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Semi-Bold"/>
                  <a:ea typeface="HK Grotesk Semi-Bold"/>
                  <a:cs typeface="HK Grotesk Semi-Bold"/>
                  <a:sym typeface="HK Grotesk Semi-Bold"/>
                </a:rPr>
                <a:t>G.V.S. Kiran Varma</a:t>
              </a:r>
            </a:p>
          </p:txBody>
        </p:sp>
        <p:sp>
          <p:nvSpPr>
            <p:cNvPr id="8" name="TextBox 8"/>
            <p:cNvSpPr txBox="1"/>
            <p:nvPr/>
          </p:nvSpPr>
          <p:spPr>
            <a:xfrm>
              <a:off x="0" y="1193800"/>
              <a:ext cx="5312521" cy="4826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Expertise in data annotation</a:t>
              </a:r>
            </a:p>
          </p:txBody>
        </p:sp>
      </p:grpSp>
      <p:grpSp>
        <p:nvGrpSpPr>
          <p:cNvPr id="9" name="Group 9"/>
          <p:cNvGrpSpPr/>
          <p:nvPr/>
        </p:nvGrpSpPr>
        <p:grpSpPr>
          <a:xfrm>
            <a:off x="13611225" y="6038850"/>
            <a:ext cx="4022842" cy="1619250"/>
            <a:chOff x="0" y="0"/>
            <a:chExt cx="5363789" cy="2159000"/>
          </a:xfrm>
        </p:grpSpPr>
        <p:sp>
          <p:nvSpPr>
            <p:cNvPr id="10" name="TextBox 10"/>
            <p:cNvSpPr txBox="1"/>
            <p:nvPr/>
          </p:nvSpPr>
          <p:spPr>
            <a:xfrm>
              <a:off x="17089"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Semi-Bold"/>
                  <a:ea typeface="HK Grotesk Semi-Bold"/>
                  <a:cs typeface="HK Grotesk Semi-Bold"/>
                  <a:sym typeface="HK Grotesk Semi-Bold"/>
                </a:rPr>
                <a:t>Abhiram T Shetty</a:t>
              </a:r>
            </a:p>
          </p:txBody>
        </p:sp>
        <p:sp>
          <p:nvSpPr>
            <p:cNvPr id="11" name="TextBox 11"/>
            <p:cNvSpPr txBox="1"/>
            <p:nvPr/>
          </p:nvSpPr>
          <p:spPr>
            <a:xfrm>
              <a:off x="0" y="1193800"/>
              <a:ext cx="5312521" cy="9652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Specialist in evaluation metrics</a:t>
              </a:r>
            </a:p>
          </p:txBody>
        </p:sp>
      </p:grpSp>
      <p:grpSp>
        <p:nvGrpSpPr>
          <p:cNvPr id="12" name="Group 12"/>
          <p:cNvGrpSpPr/>
          <p:nvPr/>
        </p:nvGrpSpPr>
        <p:grpSpPr>
          <a:xfrm>
            <a:off x="7858125" y="6038850"/>
            <a:ext cx="4010025" cy="1257300"/>
            <a:chOff x="0" y="0"/>
            <a:chExt cx="5346700" cy="1676400"/>
          </a:xfrm>
        </p:grpSpPr>
        <p:sp>
          <p:nvSpPr>
            <p:cNvPr id="13" name="TextBox 13"/>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a:solidFill>
                    <a:srgbClr val="F5F5F7"/>
                  </a:solidFill>
                  <a:latin typeface="HK Grotesk Semi-Bold"/>
                  <a:ea typeface="HK Grotesk Semi-Bold"/>
                  <a:cs typeface="HK Grotesk Semi-Bold"/>
                  <a:sym typeface="HK Grotesk Semi-Bold"/>
                </a:rPr>
                <a:t>G. Amareshwar Prasad</a:t>
              </a:r>
            </a:p>
          </p:txBody>
        </p:sp>
        <p:sp>
          <p:nvSpPr>
            <p:cNvPr id="14" name="TextBox 14"/>
            <p:cNvSpPr txBox="1"/>
            <p:nvPr/>
          </p:nvSpPr>
          <p:spPr>
            <a:xfrm>
              <a:off x="0" y="1193800"/>
              <a:ext cx="5346700" cy="4826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Architect of the model</a:t>
              </a:r>
            </a:p>
          </p:txBody>
        </p:sp>
      </p:grpSp>
      <p:sp>
        <p:nvSpPr>
          <p:cNvPr id="15" name="AutoShape 15"/>
          <p:cNvSpPr/>
          <p:nvPr/>
        </p:nvSpPr>
        <p:spPr>
          <a:xfrm>
            <a:off x="0" y="666750"/>
            <a:ext cx="18288000" cy="0"/>
          </a:xfrm>
          <a:prstGeom prst="line">
            <a:avLst/>
          </a:prstGeom>
          <a:ln w="19050" cap="flat">
            <a:solidFill>
              <a:srgbClr val="F5F5F7"/>
            </a:solidFill>
            <a:prstDash val="solid"/>
            <a:headEnd type="none" w="sm" len="sm"/>
            <a:tailEnd type="none" w="sm" len="sm"/>
          </a:ln>
        </p:spPr>
        <p:txBody>
          <a:bodyPr/>
          <a:lstStyle/>
          <a:p>
            <a:endParaRPr lang="en-IN"/>
          </a:p>
        </p:txBody>
      </p:sp>
      <p:sp>
        <p:nvSpPr>
          <p:cNvPr id="16" name="AutoShape 16"/>
          <p:cNvSpPr/>
          <p:nvPr/>
        </p:nvSpPr>
        <p:spPr>
          <a:xfrm>
            <a:off x="0" y="9620250"/>
            <a:ext cx="18288000" cy="0"/>
          </a:xfrm>
          <a:prstGeom prst="line">
            <a:avLst/>
          </a:prstGeom>
          <a:ln w="19050" cap="flat">
            <a:solidFill>
              <a:srgbClr val="F5F5F7"/>
            </a:solidFill>
            <a:prstDash val="solid"/>
            <a:headEnd type="none" w="sm" len="sm"/>
            <a:tailEnd type="none" w="sm" len="sm"/>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grpSp>
        <p:nvGrpSpPr>
          <p:cNvPr id="2" name="Group 2"/>
          <p:cNvGrpSpPr/>
          <p:nvPr/>
        </p:nvGrpSpPr>
        <p:grpSpPr>
          <a:xfrm>
            <a:off x="7858125" y="2457450"/>
            <a:ext cx="9763125" cy="1618405"/>
            <a:chOff x="0" y="0"/>
            <a:chExt cx="13017500" cy="2157874"/>
          </a:xfrm>
        </p:grpSpPr>
        <p:sp>
          <p:nvSpPr>
            <p:cNvPr id="3" name="TextBox 3"/>
            <p:cNvSpPr txBox="1"/>
            <p:nvPr/>
          </p:nvSpPr>
          <p:spPr>
            <a:xfrm>
              <a:off x="0" y="0"/>
              <a:ext cx="130175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Bold"/>
                  <a:ea typeface="HK Grotesk Bold"/>
                  <a:cs typeface="HK Grotesk Bold"/>
                  <a:sym typeface="HK Grotesk Bold"/>
                </a:rPr>
                <a:t>Need for Detection</a:t>
              </a:r>
            </a:p>
          </p:txBody>
        </p:sp>
        <p:sp>
          <p:nvSpPr>
            <p:cNvPr id="4" name="TextBox 4"/>
            <p:cNvSpPr txBox="1"/>
            <p:nvPr/>
          </p:nvSpPr>
          <p:spPr>
            <a:xfrm>
              <a:off x="0" y="1192674"/>
              <a:ext cx="13017500" cy="9652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Automatic object detection enables real-time identification of various elements, enhancing safety and efficiency in urban environments.</a:t>
              </a:r>
            </a:p>
          </p:txBody>
        </p:sp>
      </p:grpSp>
      <p:grpSp>
        <p:nvGrpSpPr>
          <p:cNvPr id="5" name="Group 5"/>
          <p:cNvGrpSpPr/>
          <p:nvPr/>
        </p:nvGrpSpPr>
        <p:grpSpPr>
          <a:xfrm>
            <a:off x="7858125" y="5143078"/>
            <a:ext cx="9763125" cy="1618828"/>
            <a:chOff x="0" y="0"/>
            <a:chExt cx="13017500" cy="2158437"/>
          </a:xfrm>
        </p:grpSpPr>
        <p:sp>
          <p:nvSpPr>
            <p:cNvPr id="6" name="TextBox 6"/>
            <p:cNvSpPr txBox="1"/>
            <p:nvPr/>
          </p:nvSpPr>
          <p:spPr>
            <a:xfrm>
              <a:off x="0" y="0"/>
              <a:ext cx="130175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Bold"/>
                  <a:ea typeface="HK Grotesk Bold"/>
                  <a:cs typeface="HK Grotesk Bold"/>
                  <a:sym typeface="HK Grotesk Bold"/>
                </a:rPr>
                <a:t>Goal of Project</a:t>
              </a:r>
            </a:p>
          </p:txBody>
        </p:sp>
        <p:sp>
          <p:nvSpPr>
            <p:cNvPr id="7" name="TextBox 7"/>
            <p:cNvSpPr txBox="1"/>
            <p:nvPr/>
          </p:nvSpPr>
          <p:spPr>
            <a:xfrm>
              <a:off x="0" y="1193237"/>
              <a:ext cx="13017500" cy="9652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The goal is to accurately detect and classify multiple objects within images, improving overall scene understanding and analysis.</a:t>
              </a:r>
            </a:p>
          </p:txBody>
        </p:sp>
      </p:grpSp>
      <p:sp>
        <p:nvSpPr>
          <p:cNvPr id="8" name="TextBox 8"/>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a:solidFill>
                  <a:srgbClr val="F5F5F7"/>
                </a:solidFill>
                <a:latin typeface="Noto Serif Display ExtraCondensed Light"/>
                <a:ea typeface="Noto Serif Display ExtraCondensed Light"/>
                <a:cs typeface="Noto Serif Display ExtraCondensed Light"/>
                <a:sym typeface="Noto Serif Display ExtraCondensed Light"/>
              </a:rPr>
              <a:t>Problem Statement</a:t>
            </a:r>
          </a:p>
        </p:txBody>
      </p:sp>
      <p:sp>
        <p:nvSpPr>
          <p:cNvPr id="9" name="AutoShape 9"/>
          <p:cNvSpPr/>
          <p:nvPr/>
        </p:nvSpPr>
        <p:spPr>
          <a:xfrm>
            <a:off x="0" y="666750"/>
            <a:ext cx="18288000" cy="0"/>
          </a:xfrm>
          <a:prstGeom prst="line">
            <a:avLst/>
          </a:prstGeom>
          <a:ln w="19050" cap="flat">
            <a:solidFill>
              <a:srgbClr val="F5F5F7"/>
            </a:solidFill>
            <a:prstDash val="solid"/>
            <a:headEnd type="none" w="sm" len="sm"/>
            <a:tailEnd type="none" w="sm" len="sm"/>
          </a:ln>
        </p:spPr>
        <p:txBody>
          <a:bodyPr/>
          <a:lstStyle/>
          <a:p>
            <a:endParaRPr lang="en-IN"/>
          </a:p>
        </p:txBody>
      </p:sp>
      <p:sp>
        <p:nvSpPr>
          <p:cNvPr id="10" name="AutoShape 10"/>
          <p:cNvSpPr/>
          <p:nvPr/>
        </p:nvSpPr>
        <p:spPr>
          <a:xfrm>
            <a:off x="0" y="9620250"/>
            <a:ext cx="18288000" cy="0"/>
          </a:xfrm>
          <a:prstGeom prst="line">
            <a:avLst/>
          </a:prstGeom>
          <a:ln w="19050" cap="flat">
            <a:solidFill>
              <a:srgbClr val="F5F5F7"/>
            </a:solidFill>
            <a:prstDash val="solid"/>
            <a:headEnd type="none" w="sm" len="sm"/>
            <a:tailEnd type="none" w="sm" len="sm"/>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grpSp>
        <p:nvGrpSpPr>
          <p:cNvPr id="2" name="Group 2"/>
          <p:cNvGrpSpPr/>
          <p:nvPr/>
        </p:nvGrpSpPr>
        <p:grpSpPr>
          <a:xfrm>
            <a:off x="666750" y="6038850"/>
            <a:ext cx="6886575" cy="2343150"/>
            <a:chOff x="0" y="0"/>
            <a:chExt cx="9182100" cy="3124200"/>
          </a:xfrm>
        </p:grpSpPr>
        <p:sp>
          <p:nvSpPr>
            <p:cNvPr id="3" name="TextBox 3"/>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Semi-Bold"/>
                  <a:ea typeface="HK Grotesk Semi-Bold"/>
                  <a:cs typeface="HK Grotesk Semi-Bold"/>
                  <a:sym typeface="HK Grotesk Semi-Bold"/>
                </a:rPr>
                <a:t>Custom Dataset</a:t>
              </a:r>
            </a:p>
          </p:txBody>
        </p:sp>
        <p:sp>
          <p:nvSpPr>
            <p:cNvPr id="4" name="TextBox 4"/>
            <p:cNvSpPr txBox="1"/>
            <p:nvPr/>
          </p:nvSpPr>
          <p:spPr>
            <a:xfrm>
              <a:off x="0" y="1193800"/>
              <a:ext cx="9182100" cy="19304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The training utilized a </a:t>
              </a:r>
              <a:r>
                <a:rPr lang="en-US" sz="2400" b="1" u="none" strike="noStrike">
                  <a:solidFill>
                    <a:srgbClr val="F5F5F7"/>
                  </a:solidFill>
                  <a:latin typeface="HK Grotesk Bold"/>
                  <a:ea typeface="HK Grotesk Bold"/>
                  <a:cs typeface="HK Grotesk Bold"/>
                  <a:sym typeface="HK Grotesk Bold"/>
                </a:rPr>
                <a:t>custom annotated image dataset</a:t>
              </a:r>
              <a:r>
                <a:rPr lang="en-US" sz="2400" u="none" strike="noStrike">
                  <a:solidFill>
                    <a:srgbClr val="F5F5F7"/>
                  </a:solidFill>
                  <a:latin typeface="HK Grotesk"/>
                  <a:ea typeface="HK Grotesk"/>
                  <a:cs typeface="HK Grotesk"/>
                  <a:sym typeface="HK Grotesk"/>
                </a:rPr>
                <a:t>, featuring multiple object classes. Images are resized to 512 × 512 pixels, ensuring consistency in input for the model.</a:t>
              </a:r>
            </a:p>
          </p:txBody>
        </p:sp>
      </p:grpSp>
      <p:grpSp>
        <p:nvGrpSpPr>
          <p:cNvPr id="5" name="Group 5"/>
          <p:cNvGrpSpPr/>
          <p:nvPr/>
        </p:nvGrpSpPr>
        <p:grpSpPr>
          <a:xfrm>
            <a:off x="9296400" y="6038850"/>
            <a:ext cx="6886575" cy="2705100"/>
            <a:chOff x="0" y="0"/>
            <a:chExt cx="9182100" cy="3606800"/>
          </a:xfrm>
        </p:grpSpPr>
        <p:sp>
          <p:nvSpPr>
            <p:cNvPr id="6" name="TextBox 6"/>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Semi-Bold"/>
                  <a:ea typeface="HK Grotesk Semi-Bold"/>
                  <a:cs typeface="HK Grotesk Semi-Bold"/>
                  <a:sym typeface="HK Grotesk Semi-Bold"/>
                </a:rPr>
                <a:t>Model Architecture</a:t>
              </a:r>
            </a:p>
          </p:txBody>
        </p:sp>
        <p:sp>
          <p:nvSpPr>
            <p:cNvPr id="7" name="TextBox 7"/>
            <p:cNvSpPr txBox="1"/>
            <p:nvPr/>
          </p:nvSpPr>
          <p:spPr>
            <a:xfrm>
              <a:off x="0" y="1193800"/>
              <a:ext cx="91821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A </a:t>
              </a:r>
              <a:r>
                <a:rPr lang="en-US" sz="2400" b="1" u="none" strike="noStrike">
                  <a:solidFill>
                    <a:srgbClr val="F5F5F7"/>
                  </a:solidFill>
                  <a:latin typeface="HK Grotesk Bold"/>
                  <a:ea typeface="HK Grotesk Bold"/>
                  <a:cs typeface="HK Grotesk Bold"/>
                  <a:sym typeface="HK Grotesk Bold"/>
                </a:rPr>
                <a:t>deep learning-based object detection model</a:t>
              </a:r>
              <a:r>
                <a:rPr lang="en-US" sz="2400" u="none" strike="noStrike">
                  <a:solidFill>
                    <a:srgbClr val="F5F5F7"/>
                  </a:solidFill>
                  <a:latin typeface="HK Grotesk"/>
                  <a:ea typeface="HK Grotesk"/>
                  <a:cs typeface="HK Grotesk"/>
                  <a:sym typeface="HK Grotesk"/>
                </a:rPr>
                <a:t> was employed, utilizing GPU-based training to enhance performance. The architecture supports multi-class detection outputs efficiently and effectively for real-time applications.</a:t>
              </a:r>
            </a:p>
          </p:txBody>
        </p:sp>
      </p:grpSp>
      <p:grpSp>
        <p:nvGrpSpPr>
          <p:cNvPr id="8" name="Group 8"/>
          <p:cNvGrpSpPr/>
          <p:nvPr/>
        </p:nvGrpSpPr>
        <p:grpSpPr>
          <a:xfrm>
            <a:off x="666750" y="1562100"/>
            <a:ext cx="16954500" cy="2209800"/>
            <a:chOff x="0" y="0"/>
            <a:chExt cx="22606000" cy="2946400"/>
          </a:xfrm>
        </p:grpSpPr>
        <p:sp>
          <p:nvSpPr>
            <p:cNvPr id="9" name="TextBox 9"/>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5F5F7"/>
                  </a:solidFill>
                  <a:latin typeface="Noto Serif Display ExtraCondensed Light"/>
                  <a:ea typeface="Noto Serif Display ExtraCondensed Light"/>
                  <a:cs typeface="Noto Serif Display ExtraCondensed Light"/>
                  <a:sym typeface="Noto Serif Display ExtraCondensed Light"/>
                </a:rPr>
                <a:t>Dataset Overview</a:t>
              </a:r>
            </a:p>
          </p:txBody>
        </p:sp>
        <p:sp>
          <p:nvSpPr>
            <p:cNvPr id="10" name="TextBox 10"/>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Semi-Bold"/>
                  <a:ea typeface="HK Grotesk Semi-Bold"/>
                  <a:cs typeface="HK Grotesk Semi-Bold"/>
                  <a:sym typeface="HK Grotesk Semi-Bold"/>
                </a:rPr>
                <a:t>Characteristics of Training Data</a:t>
              </a:r>
            </a:p>
          </p:txBody>
        </p:sp>
      </p:grpSp>
      <p:sp>
        <p:nvSpPr>
          <p:cNvPr id="11" name="AutoShape 11"/>
          <p:cNvSpPr/>
          <p:nvPr/>
        </p:nvSpPr>
        <p:spPr>
          <a:xfrm>
            <a:off x="0" y="676275"/>
            <a:ext cx="18288000" cy="0"/>
          </a:xfrm>
          <a:prstGeom prst="line">
            <a:avLst/>
          </a:prstGeom>
          <a:ln w="19050" cap="flat">
            <a:solidFill>
              <a:srgbClr val="F5F5F7"/>
            </a:solidFill>
            <a:prstDash val="solid"/>
            <a:headEnd type="none" w="sm" len="sm"/>
            <a:tailEnd type="none" w="sm" len="sm"/>
          </a:ln>
        </p:spPr>
        <p:txBody>
          <a:bodyPr/>
          <a:lstStyle/>
          <a:p>
            <a:endParaRPr lang="en-IN"/>
          </a:p>
        </p:txBody>
      </p:sp>
      <p:sp>
        <p:nvSpPr>
          <p:cNvPr id="12" name="AutoShape 12"/>
          <p:cNvSpPr/>
          <p:nvPr/>
        </p:nvSpPr>
        <p:spPr>
          <a:xfrm>
            <a:off x="0" y="9620250"/>
            <a:ext cx="18288000" cy="0"/>
          </a:xfrm>
          <a:prstGeom prst="line">
            <a:avLst/>
          </a:prstGeom>
          <a:ln w="19050" cap="flat">
            <a:solidFill>
              <a:srgbClr val="F5F5F7"/>
            </a:solidFill>
            <a:prstDash val="solid"/>
            <a:headEnd type="none" w="sm" len="sm"/>
            <a:tailEnd type="none" w="sm" len="sm"/>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424C6F-A88E-27EA-4620-9E1FABC12521}"/>
              </a:ext>
            </a:extLst>
          </p:cNvPr>
          <p:cNvSpPr txBox="1"/>
          <p:nvPr/>
        </p:nvSpPr>
        <p:spPr>
          <a:xfrm>
            <a:off x="1676400" y="1790700"/>
            <a:ext cx="8077200" cy="1015663"/>
          </a:xfrm>
          <a:prstGeom prst="rect">
            <a:avLst/>
          </a:prstGeom>
          <a:noFill/>
        </p:spPr>
        <p:txBody>
          <a:bodyPr wrap="square">
            <a:spAutoFit/>
          </a:bodyPr>
          <a:lstStyle/>
          <a:p>
            <a:r>
              <a:rPr lang="en-IN" sz="6000" dirty="0">
                <a:solidFill>
                  <a:schemeClr val="bg1"/>
                </a:solidFill>
              </a:rPr>
              <a:t>Model &amp; Training Setup</a:t>
            </a:r>
          </a:p>
        </p:txBody>
      </p:sp>
      <p:sp>
        <p:nvSpPr>
          <p:cNvPr id="5" name="TextBox 4">
            <a:extLst>
              <a:ext uri="{FF2B5EF4-FFF2-40B4-BE49-F238E27FC236}">
                <a16:creationId xmlns:a16="http://schemas.microsoft.com/office/drawing/2014/main" id="{4751E51F-0B2E-4599-BBE3-4571517E1C78}"/>
              </a:ext>
            </a:extLst>
          </p:cNvPr>
          <p:cNvSpPr txBox="1"/>
          <p:nvPr/>
        </p:nvSpPr>
        <p:spPr>
          <a:xfrm>
            <a:off x="1648918" y="3390900"/>
            <a:ext cx="11228882" cy="2862322"/>
          </a:xfrm>
          <a:prstGeom prst="rect">
            <a:avLst/>
          </a:prstGeom>
          <a:noFill/>
        </p:spPr>
        <p:txBody>
          <a:bodyPr wrap="square">
            <a:spAutoFit/>
          </a:bodyPr>
          <a:lstStyle/>
          <a:p>
            <a:r>
              <a:rPr lang="en-US" sz="3600" dirty="0">
                <a:solidFill>
                  <a:schemeClr val="bg1"/>
                </a:solidFill>
              </a:rPr>
              <a:t>• Deep learning-based object detection model</a:t>
            </a:r>
          </a:p>
          <a:p>
            <a:r>
              <a:rPr lang="en-US" sz="3600" dirty="0">
                <a:solidFill>
                  <a:schemeClr val="bg1"/>
                </a:solidFill>
              </a:rPr>
              <a:t>• Multi-class detection output</a:t>
            </a:r>
          </a:p>
          <a:p>
            <a:r>
              <a:rPr lang="en-US" sz="3600" dirty="0">
                <a:solidFill>
                  <a:schemeClr val="bg1"/>
                </a:solidFill>
              </a:rPr>
              <a:t>• GPU-based training</a:t>
            </a:r>
          </a:p>
          <a:p>
            <a:r>
              <a:rPr lang="en-US" sz="3600" dirty="0">
                <a:solidFill>
                  <a:schemeClr val="bg1"/>
                </a:solidFill>
              </a:rPr>
              <a:t>• Batch size: 4</a:t>
            </a:r>
          </a:p>
          <a:p>
            <a:r>
              <a:rPr lang="en-US" sz="3600" dirty="0">
                <a:solidFill>
                  <a:schemeClr val="bg1"/>
                </a:solidFill>
              </a:rPr>
              <a:t>• Image size: 512 × 512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grpSp>
        <p:nvGrpSpPr>
          <p:cNvPr id="2" name="Group 2"/>
          <p:cNvGrpSpPr/>
          <p:nvPr/>
        </p:nvGrpSpPr>
        <p:grpSpPr>
          <a:xfrm>
            <a:off x="4648200" y="2628900"/>
            <a:ext cx="8629650" cy="4669155"/>
            <a:chOff x="0" y="266700"/>
            <a:chExt cx="11506200" cy="6225540"/>
          </a:xfrm>
        </p:grpSpPr>
        <p:sp>
          <p:nvSpPr>
            <p:cNvPr id="3" name="TextBox 3"/>
            <p:cNvSpPr txBox="1"/>
            <p:nvPr/>
          </p:nvSpPr>
          <p:spPr>
            <a:xfrm>
              <a:off x="0" y="3850640"/>
              <a:ext cx="115062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5F5F7"/>
                  </a:solidFill>
                  <a:latin typeface="HK Grotesk Semi-Bold"/>
                  <a:ea typeface="HK Grotesk Semi-Bold"/>
                  <a:cs typeface="HK Grotesk Semi-Bold"/>
                  <a:sym typeface="HK Grotesk Semi-Bold"/>
                </a:rPr>
                <a:t>Mean Intersection over Union (IoU)</a:t>
              </a:r>
            </a:p>
          </p:txBody>
        </p:sp>
        <p:sp>
          <p:nvSpPr>
            <p:cNvPr id="4" name="TextBox 4"/>
            <p:cNvSpPr txBox="1"/>
            <p:nvPr/>
          </p:nvSpPr>
          <p:spPr>
            <a:xfrm>
              <a:off x="0" y="5044440"/>
              <a:ext cx="11506200" cy="1447800"/>
            </a:xfrm>
            <a:prstGeom prst="rect">
              <a:avLst/>
            </a:prstGeom>
          </p:spPr>
          <p:txBody>
            <a:bodyPr lIns="0" tIns="0" rIns="0" bIns="0" rtlCol="0" anchor="t">
              <a:spAutoFit/>
            </a:bodyPr>
            <a:lstStyle/>
            <a:p>
              <a:pPr marL="0" lvl="0" indent="0" algn="l">
                <a:lnSpc>
                  <a:spcPts val="2879"/>
                </a:lnSpc>
                <a:spcBef>
                  <a:spcPct val="0"/>
                </a:spcBef>
              </a:pPr>
              <a:r>
                <a:rPr lang="en-US" sz="2400" u="none" strike="noStrike">
                  <a:solidFill>
                    <a:srgbClr val="F5F5F7"/>
                  </a:solidFill>
                  <a:latin typeface="HK Grotesk"/>
                  <a:ea typeface="HK Grotesk"/>
                  <a:cs typeface="HK Grotesk"/>
                  <a:sym typeface="HK Grotesk"/>
                </a:rPr>
                <a:t>The model achieved a </a:t>
              </a:r>
              <a:r>
                <a:rPr lang="en-US" sz="2400" b="1" u="none" strike="noStrike">
                  <a:solidFill>
                    <a:srgbClr val="F5F5F7"/>
                  </a:solidFill>
                  <a:latin typeface="HK Grotesk Bold"/>
                  <a:ea typeface="HK Grotesk Bold"/>
                  <a:cs typeface="HK Grotesk Bold"/>
                  <a:sym typeface="HK Grotesk Bold"/>
                </a:rPr>
                <a:t>mean IoU</a:t>
              </a:r>
              <a:r>
                <a:rPr lang="en-US" sz="2400" u="none" strike="noStrike">
                  <a:solidFill>
                    <a:srgbClr val="F5F5F7"/>
                  </a:solidFill>
                  <a:latin typeface="HK Grotesk"/>
                  <a:ea typeface="HK Grotesk"/>
                  <a:cs typeface="HK Grotesk"/>
                  <a:sym typeface="HK Grotesk"/>
                </a:rPr>
                <a:t> of 0.49, indicating satisfactory performance in accurately detecting and classifying multiple objects within images during evaluation.</a:t>
              </a:r>
            </a:p>
          </p:txBody>
        </p:sp>
        <p:sp>
          <p:nvSpPr>
            <p:cNvPr id="5" name="TextBox 5"/>
            <p:cNvSpPr txBox="1"/>
            <p:nvPr/>
          </p:nvSpPr>
          <p:spPr>
            <a:xfrm>
              <a:off x="0" y="266700"/>
              <a:ext cx="11506200" cy="2481107"/>
            </a:xfrm>
            <a:prstGeom prst="rect">
              <a:avLst/>
            </a:prstGeom>
          </p:spPr>
          <p:txBody>
            <a:bodyPr lIns="0" tIns="0" rIns="0" bIns="0" rtlCol="0" anchor="t">
              <a:spAutoFit/>
            </a:bodyPr>
            <a:lstStyle/>
            <a:p>
              <a:pPr marL="0" lvl="0" indent="0" algn="l">
                <a:lnSpc>
                  <a:spcPts val="14400"/>
                </a:lnSpc>
                <a:spcBef>
                  <a:spcPct val="0"/>
                </a:spcBef>
              </a:pPr>
              <a:r>
                <a:rPr lang="en-US" sz="14400" u="none" strike="noStrike" spc="-288" dirty="0">
                  <a:solidFill>
                    <a:srgbClr val="F5F5F7"/>
                  </a:solidFill>
                  <a:latin typeface="Noto Serif Display ExtraCondensed Light"/>
                  <a:ea typeface="Noto Serif Display ExtraCondensed Light"/>
                  <a:cs typeface="Noto Serif Display ExtraCondensed Light"/>
                  <a:sym typeface="Noto Serif Display ExtraCondensed Light"/>
                </a:rPr>
                <a:t>0.52</a:t>
              </a:r>
            </a:p>
          </p:txBody>
        </p:sp>
      </p:grpSp>
      <p:sp>
        <p:nvSpPr>
          <p:cNvPr id="6" name="AutoShape 6"/>
          <p:cNvSpPr/>
          <p:nvPr/>
        </p:nvSpPr>
        <p:spPr>
          <a:xfrm>
            <a:off x="0" y="666750"/>
            <a:ext cx="18288000" cy="0"/>
          </a:xfrm>
          <a:prstGeom prst="line">
            <a:avLst/>
          </a:prstGeom>
          <a:ln w="19050" cap="flat">
            <a:solidFill>
              <a:srgbClr val="F5F5F7"/>
            </a:solidFill>
            <a:prstDash val="solid"/>
            <a:headEnd type="none" w="sm" len="sm"/>
            <a:tailEnd type="none" w="sm" len="sm"/>
          </a:ln>
        </p:spPr>
        <p:txBody>
          <a:bodyPr/>
          <a:lstStyle/>
          <a:p>
            <a:endParaRPr lang="en-IN"/>
          </a:p>
        </p:txBody>
      </p:sp>
      <p:sp>
        <p:nvSpPr>
          <p:cNvPr id="7" name="AutoShape 7"/>
          <p:cNvSpPr/>
          <p:nvPr/>
        </p:nvSpPr>
        <p:spPr>
          <a:xfrm>
            <a:off x="0" y="9620250"/>
            <a:ext cx="18288000" cy="0"/>
          </a:xfrm>
          <a:prstGeom prst="line">
            <a:avLst/>
          </a:prstGeom>
          <a:ln w="19050" cap="flat">
            <a:solidFill>
              <a:srgbClr val="F5F5F7"/>
            </a:solidFill>
            <a:prstDash val="solid"/>
            <a:headEnd type="none" w="sm" len="sm"/>
            <a:tailEnd type="none" w="sm" len="sm"/>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2"/>
          <p:cNvSpPr txBox="1"/>
          <p:nvPr/>
        </p:nvSpPr>
        <p:spPr>
          <a:xfrm>
            <a:off x="666750" y="1743921"/>
            <a:ext cx="6267450" cy="1240468"/>
          </a:xfrm>
          <a:prstGeom prst="rect">
            <a:avLst/>
          </a:prstGeom>
        </p:spPr>
        <p:txBody>
          <a:bodyPr wrap="square" lIns="0" tIns="0" rIns="0" bIns="0" rtlCol="0" anchor="t">
            <a:spAutoFit/>
          </a:bodyPr>
          <a:lstStyle/>
          <a:p>
            <a:pPr marL="0" lvl="0" indent="0" algn="l">
              <a:lnSpc>
                <a:spcPts val="9600"/>
              </a:lnSpc>
            </a:pPr>
            <a:r>
              <a:rPr lang="en-US" sz="9600" spc="-192" dirty="0">
                <a:solidFill>
                  <a:srgbClr val="F5F5F7"/>
                </a:solidFill>
                <a:latin typeface="Noto Serif Display ExtraCondensed Light"/>
                <a:ea typeface="Noto Serif Display ExtraCondensed Light"/>
                <a:cs typeface="Noto Serif Display ExtraCondensed Light"/>
                <a:sym typeface="Noto Serif Display ExtraCondensed Light"/>
              </a:rPr>
              <a:t>Model Output</a:t>
            </a:r>
          </a:p>
        </p:txBody>
      </p:sp>
      <p:grpSp>
        <p:nvGrpSpPr>
          <p:cNvPr id="3" name="Group 3"/>
          <p:cNvGrpSpPr/>
          <p:nvPr/>
        </p:nvGrpSpPr>
        <p:grpSpPr>
          <a:xfrm>
            <a:off x="666750" y="4685384"/>
            <a:ext cx="6496050" cy="3676626"/>
            <a:chOff x="0" y="0"/>
            <a:chExt cx="7264400" cy="4902169"/>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5F5F7"/>
                  </a:solidFill>
                  <a:latin typeface="HK Grotesk Semi-Bold"/>
                  <a:ea typeface="HK Grotesk Semi-Bold"/>
                  <a:cs typeface="HK Grotesk Semi-Bold"/>
                  <a:sym typeface="HK Grotesk Semi-Bold"/>
                </a:rPr>
                <a:t>Object Detection Visualization</a:t>
              </a:r>
            </a:p>
          </p:txBody>
        </p:sp>
        <p:sp>
          <p:nvSpPr>
            <p:cNvPr id="5" name="TextBox 5"/>
            <p:cNvSpPr txBox="1"/>
            <p:nvPr/>
          </p:nvSpPr>
          <p:spPr>
            <a:xfrm>
              <a:off x="0" y="939800"/>
              <a:ext cx="7264400" cy="3962369"/>
            </a:xfrm>
            <a:prstGeom prst="rect">
              <a:avLst/>
            </a:prstGeom>
          </p:spPr>
          <p:txBody>
            <a:bodyPr lIns="0" tIns="0" rIns="0" bIns="0" rtlCol="0" anchor="t">
              <a:spAutoFit/>
            </a:bodyPr>
            <a:lstStyle/>
            <a:p>
              <a:pPr lvl="0">
                <a:lnSpc>
                  <a:spcPts val="2879"/>
                </a:lnSpc>
              </a:pPr>
              <a:r>
                <a:rPr lang="en-US" sz="2400" dirty="0">
                  <a:solidFill>
                    <a:schemeClr val="bg1"/>
                  </a:solidFill>
                </a:rPr>
                <a:t>The model output shows accurate detection and classification of multiple objects in urban street scenes with clear segmentation masks. It demonstrates strong localization and scene understanding across different traffic conditions. These results highlight the model’s effectiveness for real-time intelligent applications.</a:t>
              </a:r>
              <a:endParaRPr lang="en-US" sz="2400" u="none" strike="noStrike" dirty="0">
                <a:solidFill>
                  <a:schemeClr val="bg1"/>
                </a:solidFill>
                <a:latin typeface="HK Grotesk"/>
                <a:ea typeface="HK Grotesk"/>
                <a:cs typeface="HK Grotesk"/>
                <a:sym typeface="HK Grotesk"/>
              </a:endParaRPr>
            </a:p>
          </p:txBody>
        </p:sp>
      </p:grpSp>
      <p:sp>
        <p:nvSpPr>
          <p:cNvPr id="6" name="AutoShape 6"/>
          <p:cNvSpPr/>
          <p:nvPr/>
        </p:nvSpPr>
        <p:spPr>
          <a:xfrm flipV="1">
            <a:off x="0" y="571508"/>
            <a:ext cx="18288000" cy="104767"/>
          </a:xfrm>
          <a:prstGeom prst="line">
            <a:avLst/>
          </a:prstGeom>
          <a:ln w="19050" cap="flat">
            <a:solidFill>
              <a:srgbClr val="F5F5F7"/>
            </a:solidFill>
            <a:prstDash val="solid"/>
            <a:headEnd type="none" w="sm" len="sm"/>
            <a:tailEnd type="none" w="sm" len="sm"/>
          </a:ln>
        </p:spPr>
        <p:txBody>
          <a:bodyPr/>
          <a:lstStyle/>
          <a:p>
            <a:endParaRPr lang="en-IN"/>
          </a:p>
        </p:txBody>
      </p:sp>
      <p:sp>
        <p:nvSpPr>
          <p:cNvPr id="7" name="AutoShape 7"/>
          <p:cNvSpPr/>
          <p:nvPr/>
        </p:nvSpPr>
        <p:spPr>
          <a:xfrm>
            <a:off x="0" y="9629775"/>
            <a:ext cx="18288000" cy="0"/>
          </a:xfrm>
          <a:prstGeom prst="line">
            <a:avLst/>
          </a:prstGeom>
          <a:ln w="19050" cap="flat">
            <a:solidFill>
              <a:srgbClr val="F5F5F7"/>
            </a:solidFill>
            <a:prstDash val="solid"/>
            <a:headEnd type="none" w="sm" len="sm"/>
            <a:tailEnd type="none" w="sm" len="sm"/>
          </a:ln>
        </p:spPr>
        <p:txBody>
          <a:bodyPr/>
          <a:lstStyle/>
          <a:p>
            <a:endParaRPr lang="en-IN"/>
          </a:p>
        </p:txBody>
      </p:sp>
      <p:pic>
        <p:nvPicPr>
          <p:cNvPr id="11" name="Picture 10">
            <a:extLst>
              <a:ext uri="{FF2B5EF4-FFF2-40B4-BE49-F238E27FC236}">
                <a16:creationId xmlns:a16="http://schemas.microsoft.com/office/drawing/2014/main" id="{AD53DAB0-F358-F489-CE59-998886C004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600" y="2234564"/>
            <a:ext cx="9670740" cy="60331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grpSp>
        <p:nvGrpSpPr>
          <p:cNvPr id="2" name="Group 2"/>
          <p:cNvGrpSpPr/>
          <p:nvPr/>
        </p:nvGrpSpPr>
        <p:grpSpPr>
          <a:xfrm>
            <a:off x="8153400" y="0"/>
            <a:ext cx="10134600" cy="9791700"/>
            <a:chOff x="0" y="0"/>
            <a:chExt cx="1615861" cy="1593725"/>
          </a:xfrm>
        </p:grpSpPr>
        <p:sp>
          <p:nvSpPr>
            <p:cNvPr id="3" name="Freeform 3"/>
            <p:cNvSpPr/>
            <p:nvPr/>
          </p:nvSpPr>
          <p:spPr>
            <a:xfrm>
              <a:off x="0" y="0"/>
              <a:ext cx="1615861" cy="1593725"/>
            </a:xfrm>
            <a:custGeom>
              <a:avLst/>
              <a:gdLst/>
              <a:ahLst/>
              <a:cxnLst/>
              <a:rect l="l" t="t" r="r" b="b"/>
              <a:pathLst>
                <a:path w="1615861" h="1593725">
                  <a:moveTo>
                    <a:pt x="0" y="0"/>
                  </a:moveTo>
                  <a:lnTo>
                    <a:pt x="1615861" y="0"/>
                  </a:lnTo>
                  <a:lnTo>
                    <a:pt x="1615861" y="1593725"/>
                  </a:lnTo>
                  <a:lnTo>
                    <a:pt x="0" y="1593725"/>
                  </a:lnTo>
                  <a:close/>
                </a:path>
              </a:pathLst>
            </a:custGeom>
            <a:blipFill>
              <a:blip r:embed="rId2"/>
              <a:stretch>
                <a:fillRect l="-905" r="-905"/>
              </a:stretch>
            </a:blipFill>
          </p:spPr>
          <p:txBody>
            <a:bodyPr/>
            <a:lstStyle/>
            <a:p>
              <a:endParaRPr lang="en-IN"/>
            </a:p>
          </p:txBody>
        </p:sp>
      </p:grpSp>
      <p:grpSp>
        <p:nvGrpSpPr>
          <p:cNvPr id="4" name="Group 4"/>
          <p:cNvGrpSpPr/>
          <p:nvPr/>
        </p:nvGrpSpPr>
        <p:grpSpPr>
          <a:xfrm>
            <a:off x="666750" y="1562945"/>
            <a:ext cx="5448300" cy="2513755"/>
            <a:chOff x="0" y="0"/>
            <a:chExt cx="7264400" cy="3351674"/>
          </a:xfrm>
        </p:grpSpPr>
        <p:sp>
          <p:nvSpPr>
            <p:cNvPr id="5" name="TextBox 5"/>
            <p:cNvSpPr txBox="1"/>
            <p:nvPr/>
          </p:nvSpPr>
          <p:spPr>
            <a:xfrm>
              <a:off x="0" y="180975"/>
              <a:ext cx="7264400" cy="1769745"/>
            </a:xfrm>
            <a:prstGeom prst="rect">
              <a:avLst/>
            </a:prstGeom>
          </p:spPr>
          <p:txBody>
            <a:bodyPr lIns="0" tIns="0" rIns="0" bIns="0" rtlCol="0" anchor="t">
              <a:spAutoFit/>
            </a:bodyPr>
            <a:lstStyle/>
            <a:p>
              <a:pPr marL="0" lvl="0" indent="0" algn="l">
                <a:lnSpc>
                  <a:spcPts val="9600"/>
                </a:lnSpc>
              </a:pPr>
              <a:r>
                <a:rPr lang="en-US" sz="9600" spc="-192">
                  <a:solidFill>
                    <a:srgbClr val="F5F5F7"/>
                  </a:solidFill>
                  <a:latin typeface="Noto Serif Display ExtraCondensed Light"/>
                  <a:ea typeface="Noto Serif Display ExtraCondensed Light"/>
                  <a:cs typeface="Noto Serif Display ExtraCondensed Light"/>
                  <a:sym typeface="Noto Serif Display ExtraCondensed Light"/>
                </a:rPr>
                <a:t>Thank You</a:t>
              </a:r>
            </a:p>
          </p:txBody>
        </p:sp>
        <p:sp>
          <p:nvSpPr>
            <p:cNvPr id="6" name="TextBox 6"/>
            <p:cNvSpPr txBox="1"/>
            <p:nvPr/>
          </p:nvSpPr>
          <p:spPr>
            <a:xfrm>
              <a:off x="0" y="2386474"/>
              <a:ext cx="7264400" cy="9652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We appreciate your interest in our AI Model Training project.</a:t>
              </a:r>
            </a:p>
          </p:txBody>
        </p:sp>
      </p:grpSp>
      <p:grpSp>
        <p:nvGrpSpPr>
          <p:cNvPr id="7" name="Group 7"/>
          <p:cNvGrpSpPr/>
          <p:nvPr/>
        </p:nvGrpSpPr>
        <p:grpSpPr>
          <a:xfrm>
            <a:off x="666750" y="7639050"/>
            <a:ext cx="5448300" cy="1536340"/>
            <a:chOff x="0" y="0"/>
            <a:chExt cx="7264400" cy="2048454"/>
          </a:xfrm>
        </p:grpSpPr>
        <p:sp>
          <p:nvSpPr>
            <p:cNvPr id="8" name="TextBox 8"/>
            <p:cNvSpPr txBox="1"/>
            <p:nvPr/>
          </p:nvSpPr>
          <p:spPr>
            <a:xfrm>
              <a:off x="0" y="0"/>
              <a:ext cx="7264400" cy="482600"/>
            </a:xfrm>
            <a:prstGeom prst="rect">
              <a:avLst/>
            </a:prstGeom>
          </p:spPr>
          <p:txBody>
            <a:bodyPr lIns="0" tIns="0" rIns="0" bIns="0" rtlCol="0" anchor="t">
              <a:spAutoFit/>
            </a:bodyPr>
            <a:lstStyle/>
            <a:p>
              <a:pPr marL="0" lvl="0" indent="0" algn="l">
                <a:lnSpc>
                  <a:spcPts val="2879"/>
                </a:lnSpc>
              </a:pPr>
              <a:r>
                <a:rPr lang="en-US" sz="2400" u="none" strike="noStrike">
                  <a:solidFill>
                    <a:srgbClr val="F5F5F7"/>
                  </a:solidFill>
                  <a:latin typeface="HK Grotesk"/>
                  <a:ea typeface="HK Grotesk"/>
                  <a:cs typeface="HK Grotesk"/>
                  <a:sym typeface="HK Grotesk"/>
                </a:rPr>
                <a:t>Phone: 8639004735</a:t>
              </a:r>
            </a:p>
          </p:txBody>
        </p:sp>
        <p:sp>
          <p:nvSpPr>
            <p:cNvPr id="9" name="TextBox 9"/>
            <p:cNvSpPr txBox="1"/>
            <p:nvPr/>
          </p:nvSpPr>
          <p:spPr>
            <a:xfrm>
              <a:off x="0" y="482600"/>
              <a:ext cx="7264400" cy="482600"/>
            </a:xfrm>
            <a:prstGeom prst="rect">
              <a:avLst/>
            </a:prstGeom>
          </p:spPr>
          <p:txBody>
            <a:bodyPr lIns="0" tIns="0" rIns="0" bIns="0" rtlCol="0" anchor="t">
              <a:spAutoFit/>
            </a:bodyPr>
            <a:lstStyle/>
            <a:p>
              <a:pPr marL="0" lvl="0" indent="0" algn="l">
                <a:lnSpc>
                  <a:spcPts val="2879"/>
                </a:lnSpc>
              </a:pPr>
              <a:r>
                <a:rPr lang="en-US" sz="2400">
                  <a:solidFill>
                    <a:srgbClr val="F5F5F7"/>
                  </a:solidFill>
                  <a:latin typeface="HK Grotesk"/>
                  <a:ea typeface="HK Grotesk"/>
                  <a:cs typeface="HK Grotesk"/>
                  <a:sym typeface="HK Grotesk"/>
                </a:rPr>
                <a:t>Email: 239X1A3366@GPREC.AC.IN</a:t>
              </a:r>
            </a:p>
          </p:txBody>
        </p:sp>
        <p:sp>
          <p:nvSpPr>
            <p:cNvPr id="10" name="TextBox 10"/>
            <p:cNvSpPr txBox="1"/>
            <p:nvPr/>
          </p:nvSpPr>
          <p:spPr>
            <a:xfrm>
              <a:off x="0" y="1088447"/>
              <a:ext cx="7264400" cy="960007"/>
            </a:xfrm>
            <a:prstGeom prst="rect">
              <a:avLst/>
            </a:prstGeom>
          </p:spPr>
          <p:txBody>
            <a:bodyPr lIns="0" tIns="0" rIns="0" bIns="0" rtlCol="0" anchor="t">
              <a:spAutoFit/>
            </a:bodyPr>
            <a:lstStyle/>
            <a:p>
              <a:pPr marL="0" lvl="0" indent="0" algn="l">
                <a:lnSpc>
                  <a:spcPts val="2879"/>
                </a:lnSpc>
              </a:pPr>
              <a:r>
                <a:rPr lang="en-US" sz="2400" dirty="0" err="1">
                  <a:solidFill>
                    <a:srgbClr val="F5F5F7"/>
                  </a:solidFill>
                  <a:latin typeface="HK Grotesk"/>
                  <a:ea typeface="HK Grotesk"/>
                  <a:cs typeface="HK Grotesk"/>
                  <a:sym typeface="HK Grotesk"/>
                </a:rPr>
                <a:t>Github</a:t>
              </a:r>
              <a:r>
                <a:rPr lang="en-US" sz="2400" dirty="0">
                  <a:solidFill>
                    <a:srgbClr val="F5F5F7"/>
                  </a:solidFill>
                  <a:latin typeface="HK Grotesk"/>
                  <a:ea typeface="HK Grotesk"/>
                  <a:cs typeface="HK Grotesk"/>
                  <a:sym typeface="HK Grotesk"/>
                </a:rPr>
                <a:t> Link: </a:t>
              </a:r>
              <a:r>
                <a:rPr lang="en-US" dirty="0">
                  <a:solidFill>
                    <a:srgbClr val="F5F5F7"/>
                  </a:solidFill>
                  <a:latin typeface="HK Grotesk"/>
                  <a:ea typeface="HK Grotesk"/>
                  <a:cs typeface="HK Grotesk"/>
                  <a:sym typeface="HK Grotesk"/>
                </a:rPr>
                <a:t>https://github.com/Syed8855/AI_Model_Training </a:t>
              </a:r>
            </a:p>
          </p:txBody>
        </p:sp>
      </p:grpSp>
      <p:sp>
        <p:nvSpPr>
          <p:cNvPr id="11" name="AutoShape 11"/>
          <p:cNvSpPr/>
          <p:nvPr/>
        </p:nvSpPr>
        <p:spPr>
          <a:xfrm>
            <a:off x="0" y="676275"/>
            <a:ext cx="7858125" cy="0"/>
          </a:xfrm>
          <a:prstGeom prst="line">
            <a:avLst/>
          </a:prstGeom>
          <a:ln w="19050" cap="flat">
            <a:solidFill>
              <a:srgbClr val="F5F5F7"/>
            </a:solidFill>
            <a:prstDash val="solid"/>
            <a:headEnd type="none" w="sm" len="sm"/>
            <a:tailEnd type="none" w="sm" len="sm"/>
          </a:ln>
        </p:spPr>
        <p:txBody>
          <a:bodyPr/>
          <a:lstStyle/>
          <a:p>
            <a:endParaRPr lang="en-IN"/>
          </a:p>
        </p:txBody>
      </p:sp>
      <p:sp>
        <p:nvSpPr>
          <p:cNvPr id="12" name="AutoShape 12"/>
          <p:cNvSpPr/>
          <p:nvPr/>
        </p:nvSpPr>
        <p:spPr>
          <a:xfrm>
            <a:off x="0" y="9629775"/>
            <a:ext cx="7858125" cy="0"/>
          </a:xfrm>
          <a:prstGeom prst="line">
            <a:avLst/>
          </a:prstGeom>
          <a:ln w="19050" cap="flat">
            <a:solidFill>
              <a:srgbClr val="F5F5F7"/>
            </a:solidFill>
            <a:prstDash val="solid"/>
            <a:headEnd type="none" w="sm" len="sm"/>
            <a:tailEnd type="none" w="sm" len="sm"/>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311</Words>
  <Application>Microsoft Office PowerPoint</Application>
  <PresentationFormat>Custom</PresentationFormat>
  <Paragraphs>40</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HK Grotesk</vt:lpstr>
      <vt:lpstr>Noto Serif Display ExtraCondensed Light</vt:lpstr>
      <vt:lpstr>Calibri</vt:lpstr>
      <vt:lpstr>HK Grotesk Bold</vt:lpstr>
      <vt:lpstr>HK Grotesk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AI Model Training</dc:title>
  <dc:description>Presentation - AI Model Training</dc:description>
  <cp:lastModifiedBy>GOLUSULA VENKATA SAI KIRAN VARMA</cp:lastModifiedBy>
  <cp:revision>2</cp:revision>
  <cp:lastPrinted>2026-02-25T10:28:05Z</cp:lastPrinted>
  <dcterms:created xsi:type="dcterms:W3CDTF">2006-08-16T00:00:00Z</dcterms:created>
  <dcterms:modified xsi:type="dcterms:W3CDTF">2026-02-25T10:57:19Z</dcterms:modified>
  <dc:identifier>DAHCUvVTb7g</dc:identifier>
</cp:coreProperties>
</file>